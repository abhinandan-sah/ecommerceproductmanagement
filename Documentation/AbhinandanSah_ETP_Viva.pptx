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695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69B6-D69A-B7AE-B465-DAF2A148C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84587-DA98-14EA-C0E6-0DADB312A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77F90-AD8A-467A-BEBA-023B76534C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4A899-C15B-DBDD-F51F-98C88D5FC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34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0" y="914400"/>
            <a:ext cx="1828800" cy="1828800"/>
          </a:xfrm>
          <a:prstGeom prst="ellipse">
            <a:avLst/>
          </a:prstGeom>
          <a:solidFill>
            <a:srgbClr val="112E59"/>
          </a:solidFill>
          <a:ln w="12700">
            <a:solidFill>
              <a:srgbClr val="112E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80960" y="1463040"/>
            <a:ext cx="822960" cy="8229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286000" cy="320040"/>
          </a:xfrm>
          <a:prstGeom prst="roundRect">
            <a:avLst>
              <a:gd name="adj" fmla="val 11429"/>
            </a:avLst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</a:rPr>
              <a:t>INTERNSHIP | Training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2693" y="2359152"/>
            <a:ext cx="3467948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Product</a:t>
            </a:r>
            <a:r>
              <a:rPr lang="en-US" sz="1400"/>
              <a:t> </a:t>
            </a: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Student: </a:t>
            </a:r>
            <a:r>
              <a:rPr lang="en-US" sz="1100" dirty="0">
                <a:solidFill>
                  <a:srgbClr val="E2EFF9"/>
                </a:solidFill>
              </a:rPr>
              <a:t>Abhinandan Sah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31546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Reg. No.: </a:t>
            </a:r>
            <a:r>
              <a:rPr lang="en-US" sz="1100" dirty="0">
                <a:solidFill>
                  <a:srgbClr val="E2EFF9"/>
                </a:solidFill>
              </a:rPr>
              <a:t>12202699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Program: </a:t>
            </a:r>
            <a:r>
              <a:rPr lang="en-US" sz="1100" dirty="0">
                <a:solidFill>
                  <a:srgbClr val="E2EFF9"/>
                </a:solidFill>
              </a:rPr>
              <a:t>B.Tech CSE (2022–2026)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5661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Company: </a:t>
            </a:r>
            <a:r>
              <a:rPr lang="en-US" sz="1100" dirty="0">
                <a:solidFill>
                  <a:srgbClr val="E2EFF9"/>
                </a:solidFill>
              </a:rPr>
              <a:t>Capgemini Technology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A8C9"/>
                </a:solidFill>
              </a:rPr>
              <a:t>Lovely Professional University  |  17 Dec 2025 – 20 May 2026</a:t>
            </a:r>
            <a:endParaRPr lang="en-US" sz="1000" dirty="0"/>
          </a:p>
        </p:txBody>
      </p:sp>
      <p:pic>
        <p:nvPicPr>
          <p:cNvPr id="15" name="Picture 14" descr="Capgemini Logo">
            <a:extLst>
              <a:ext uri="{FF2B5EF4-FFF2-40B4-BE49-F238E27FC236}">
                <a16:creationId xmlns:a16="http://schemas.microsoft.com/office/drawing/2014/main" id="{42300B01-7EC3-37E6-B43B-85DBB8A29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6300" y="-293555"/>
            <a:ext cx="2820308" cy="158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53B5F1-1854-5EF6-AC47-C38D3DEE55DB}"/>
              </a:ext>
            </a:extLst>
          </p:cNvPr>
          <p:cNvSpPr txBox="1"/>
          <p:nvPr/>
        </p:nvSpPr>
        <p:spPr>
          <a:xfrm>
            <a:off x="382693" y="1427351"/>
            <a:ext cx="459570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INTERNSHIP &amp; PROJECT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08BB5B-E101-E0BD-F11A-DA74E97F9256}"/>
              </a:ext>
            </a:extLst>
          </p:cNvPr>
          <p:cNvSpPr txBox="1"/>
          <p:nvPr/>
        </p:nvSpPr>
        <p:spPr>
          <a:xfrm>
            <a:off x="382693" y="2669893"/>
            <a:ext cx="5008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8899AA"/>
                </a:solidFill>
                <a:latin typeface="Calibri"/>
              </a:rPr>
              <a:t>Industrial Training in .NET Full Stack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Capgemini Technology 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3891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Global IT Consulting &amp; Services Leader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Capgemini specializes in digital transformation, cloud services, application development, automation, cybersecurity, and enterprise modernization.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Headquarters: </a:t>
            </a:r>
            <a:r>
              <a:rPr lang="en-US" sz="1200" dirty="0">
                <a:solidFill>
                  <a:srgbClr val="374151"/>
                </a:solidFill>
              </a:rPr>
              <a:t>Paris, France | India HQ: Navi Mumbai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Internship Role: </a:t>
            </a:r>
            <a:r>
              <a:rPr lang="en-US" sz="1200" dirty="0">
                <a:solidFill>
                  <a:srgbClr val="374151"/>
                </a:solidFill>
              </a:rPr>
              <a:t>Analyst / A4
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Mentor: </a:t>
            </a:r>
            <a:r>
              <a:rPr lang="en-US" sz="1200" dirty="0">
                <a:solidFill>
                  <a:srgbClr val="374151"/>
                </a:solidFill>
              </a:rPr>
              <a:t>Ravleen Kaur (Senior Manager)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0584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120640" y="100584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30368" y="10058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Innovation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2320" y="100584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132320" y="100584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242048" y="100584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Integrity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20640" y="201168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30368" y="20116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Client-Centricity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32320" y="201168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132320" y="201168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242048" y="201168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Excellence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01752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120640" y="301752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30368" y="30175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Collaboration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3017520"/>
            <a:ext cx="1828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132320" y="3017520"/>
            <a:ext cx="54864" cy="65836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242048" y="301752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A"/>
                </a:solidFill>
              </a:rPr>
              <a:t>Continuous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86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</a:rPr>
              <a:t>Core Values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14E4C9-9060-9B06-86F8-FBB041F7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946" y="0"/>
            <a:ext cx="57641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64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3A0B10E-826E-3BD4-6E3D-F5371816304C}"/>
              </a:ext>
            </a:extLst>
          </p:cNvPr>
          <p:cNvSpPr txBox="1"/>
          <p:nvPr/>
        </p:nvSpPr>
        <p:spPr>
          <a:xfrm>
            <a:off x="304800" y="41680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/>
              </a:rPr>
              <a:t>TRAINING &amp; LEARNING SUMMARY</a:t>
            </a:r>
          </a:p>
        </p:txBody>
      </p:sp>
      <p:sp>
        <p:nvSpPr>
          <p:cNvPr id="17" name="BackendBG">
            <a:extLst>
              <a:ext uri="{FF2B5EF4-FFF2-40B4-BE49-F238E27FC236}">
                <a16:creationId xmlns:a16="http://schemas.microsoft.com/office/drawing/2014/main" id="{2B115272-6C53-64F8-7957-2142DC042E61}"/>
              </a:ext>
            </a:extLst>
          </p:cNvPr>
          <p:cNvSpPr/>
          <p:nvPr/>
        </p:nvSpPr>
        <p:spPr>
          <a:xfrm>
            <a:off x="223400" y="1121410"/>
            <a:ext cx="2021840" cy="1600200"/>
          </a:xfrm>
          <a:prstGeom prst="roundRect">
            <a:avLst>
              <a:gd name="adj" fmla="val 5000"/>
            </a:avLst>
          </a:prstGeom>
          <a:solidFill>
            <a:srgbClr val="152536"/>
          </a:solidFill>
          <a:ln w="9525">
            <a:solidFill>
              <a:srgbClr val="4EA8DE">
                <a:alpha val="40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8" name="BackendText">
            <a:extLst>
              <a:ext uri="{FF2B5EF4-FFF2-40B4-BE49-F238E27FC236}">
                <a16:creationId xmlns:a16="http://schemas.microsoft.com/office/drawing/2014/main" id="{01C19940-1FF0-EB5F-05B4-6F2D78BD655C}"/>
              </a:ext>
            </a:extLst>
          </p:cNvPr>
          <p:cNvSpPr/>
          <p:nvPr/>
        </p:nvSpPr>
        <p:spPr>
          <a:xfrm>
            <a:off x="223400" y="1121410"/>
            <a:ext cx="2021840" cy="1600200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4EA8DE"/>
                </a:solidFill>
                <a:latin typeface="Calibri"/>
              </a:rPr>
              <a:t>Backend Technologies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.NET Core &amp; ASP.NET Core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REST API Development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Entity Framework Core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Authentication &amp; Authorization</a:t>
            </a:r>
          </a:p>
        </p:txBody>
      </p:sp>
      <p:sp>
        <p:nvSpPr>
          <p:cNvPr id="19" name="FrontendBG">
            <a:extLst>
              <a:ext uri="{FF2B5EF4-FFF2-40B4-BE49-F238E27FC236}">
                <a16:creationId xmlns:a16="http://schemas.microsoft.com/office/drawing/2014/main" id="{7B38D46D-647E-7A7E-111E-8E387971F7B2}"/>
              </a:ext>
            </a:extLst>
          </p:cNvPr>
          <p:cNvSpPr/>
          <p:nvPr/>
        </p:nvSpPr>
        <p:spPr>
          <a:xfrm>
            <a:off x="2458720" y="1121410"/>
            <a:ext cx="2021840" cy="1600200"/>
          </a:xfrm>
          <a:prstGeom prst="roundRect">
            <a:avLst>
              <a:gd name="adj" fmla="val 5000"/>
            </a:avLst>
          </a:prstGeom>
          <a:solidFill>
            <a:srgbClr val="152536"/>
          </a:solidFill>
          <a:ln w="9525">
            <a:solidFill>
              <a:srgbClr val="00C896">
                <a:alpha val="40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0" name="FrontendText">
            <a:extLst>
              <a:ext uri="{FF2B5EF4-FFF2-40B4-BE49-F238E27FC236}">
                <a16:creationId xmlns:a16="http://schemas.microsoft.com/office/drawing/2014/main" id="{9E5EEBB7-D285-8CBA-E220-F645C9FFDE8F}"/>
              </a:ext>
            </a:extLst>
          </p:cNvPr>
          <p:cNvSpPr/>
          <p:nvPr/>
        </p:nvSpPr>
        <p:spPr>
          <a:xfrm>
            <a:off x="2458720" y="1121410"/>
            <a:ext cx="2021840" cy="1600200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/>
              </a:rPr>
              <a:t>Frontend Technologies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Angular Framework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TypeScript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Routing &amp; Reactive Forms</a:t>
            </a:r>
          </a:p>
          <a:p>
            <a:pPr marL="0" indent="0">
              <a:buNone/>
            </a:pPr>
            <a:r>
              <a:rPr lang="en-US" sz="11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100" b="0" dirty="0">
                <a:solidFill>
                  <a:srgbClr val="CCDDEE"/>
                </a:solidFill>
                <a:latin typeface="Calibri"/>
              </a:rPr>
              <a:t>JWT Authentication</a:t>
            </a:r>
          </a:p>
        </p:txBody>
      </p:sp>
      <p:sp>
        <p:nvSpPr>
          <p:cNvPr id="21" name="DBBG">
            <a:extLst>
              <a:ext uri="{FF2B5EF4-FFF2-40B4-BE49-F238E27FC236}">
                <a16:creationId xmlns:a16="http://schemas.microsoft.com/office/drawing/2014/main" id="{24AFE6F0-C2AD-A411-0233-DA078326563B}"/>
              </a:ext>
            </a:extLst>
          </p:cNvPr>
          <p:cNvSpPr/>
          <p:nvPr/>
        </p:nvSpPr>
        <p:spPr>
          <a:xfrm>
            <a:off x="4663442" y="1121410"/>
            <a:ext cx="2021840" cy="1600200"/>
          </a:xfrm>
          <a:prstGeom prst="roundRect">
            <a:avLst>
              <a:gd name="adj" fmla="val 5000"/>
            </a:avLst>
          </a:prstGeom>
          <a:solidFill>
            <a:srgbClr val="152536"/>
          </a:solidFill>
          <a:ln w="9525">
            <a:solidFill>
              <a:srgbClr val="4EA8DE">
                <a:alpha val="40000"/>
              </a:srgbClr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2" name="DBText">
            <a:extLst>
              <a:ext uri="{FF2B5EF4-FFF2-40B4-BE49-F238E27FC236}">
                <a16:creationId xmlns:a16="http://schemas.microsoft.com/office/drawing/2014/main" id="{4EB3E42D-E69D-2F68-08F3-A22FEEF396CF}"/>
              </a:ext>
            </a:extLst>
          </p:cNvPr>
          <p:cNvSpPr/>
          <p:nvPr/>
        </p:nvSpPr>
        <p:spPr>
          <a:xfrm>
            <a:off x="4663442" y="1121410"/>
            <a:ext cx="2021840" cy="1600200"/>
          </a:xfrm>
          <a:prstGeom prst="rect">
            <a:avLst/>
          </a:prstGeom>
          <a:noFill/>
          <a:ln/>
        </p:spPr>
        <p:txBody>
          <a:bodyPr wrap="square" lIns="152400" tIns="114300" rIns="152400" bIns="1143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4EA8DE"/>
                </a:solidFill>
                <a:latin typeface="Calibri"/>
              </a:rPr>
              <a:t>Database Concepts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200" b="0" dirty="0">
                <a:solidFill>
                  <a:srgbClr val="CCDDEE"/>
                </a:solidFill>
                <a:latin typeface="Calibri"/>
              </a:rPr>
              <a:t>SQL Server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200" b="0" dirty="0">
                <a:solidFill>
                  <a:srgbClr val="CCDDEE"/>
                </a:solidFill>
                <a:latin typeface="Calibri"/>
              </a:rPr>
              <a:t>Database Design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200" b="0" dirty="0">
                <a:solidFill>
                  <a:srgbClr val="CCDDEE"/>
                </a:solidFill>
                <a:latin typeface="Calibri"/>
              </a:rPr>
              <a:t>CRUD Operations</a:t>
            </a:r>
          </a:p>
          <a:p>
            <a:pPr marL="0" indent="0">
              <a:buNone/>
            </a:pPr>
            <a:r>
              <a:rPr lang="en-US" sz="1200" b="0" dirty="0">
                <a:solidFill>
                  <a:srgbClr val="00C896"/>
                </a:solidFill>
                <a:latin typeface="Calibri"/>
              </a:rPr>
              <a:t>✓ </a:t>
            </a:r>
            <a:r>
              <a:rPr lang="en-US" sz="1200" b="0" dirty="0">
                <a:solidFill>
                  <a:srgbClr val="CCDDEE"/>
                </a:solidFill>
                <a:latin typeface="Calibri"/>
              </a:rPr>
              <a:t>Transactions &amp; ACID Properties</a:t>
            </a:r>
          </a:p>
        </p:txBody>
      </p:sp>
      <p:sp>
        <p:nvSpPr>
          <p:cNvPr id="23" name="SEBG">
            <a:extLst>
              <a:ext uri="{FF2B5EF4-FFF2-40B4-BE49-F238E27FC236}">
                <a16:creationId xmlns:a16="http://schemas.microsoft.com/office/drawing/2014/main" id="{E01F32F2-FC80-CB65-CF19-19032A2F81A8}"/>
              </a:ext>
            </a:extLst>
          </p:cNvPr>
          <p:cNvSpPr/>
          <p:nvPr/>
        </p:nvSpPr>
        <p:spPr>
          <a:xfrm>
            <a:off x="6786886" y="1121410"/>
            <a:ext cx="2235196" cy="1600200"/>
          </a:xfrm>
          <a:prstGeom prst="roundRect">
            <a:avLst>
              <a:gd name="adj" fmla="val 5000"/>
            </a:avLst>
          </a:prstGeom>
          <a:solidFill>
            <a:srgbClr val="152536"/>
          </a:solidFill>
          <a:ln w="9525">
            <a:solidFill>
              <a:srgbClr val="00C896">
                <a:alpha val="40000"/>
              </a:srgbClr>
            </a:solidFill>
          </a:ln>
        </p:spPr>
        <p:txBody>
          <a:bodyPr/>
          <a:lstStyle/>
          <a:p>
            <a:r>
              <a:rPr lang="en-US" sz="1600" b="1" dirty="0">
                <a:solidFill>
                  <a:srgbClr val="00C896"/>
                </a:solidFill>
              </a:rPr>
              <a:t>Software Engineering</a:t>
            </a:r>
          </a:p>
          <a:p>
            <a:r>
              <a:rPr lang="en-US" sz="1300" dirty="0">
                <a:solidFill>
                  <a:srgbClr val="00C896"/>
                </a:solidFill>
              </a:rPr>
              <a:t>✓ </a:t>
            </a:r>
            <a:r>
              <a:rPr lang="en-US" sz="1300" dirty="0">
                <a:solidFill>
                  <a:srgbClr val="CCDDEE"/>
                </a:solidFill>
              </a:rPr>
              <a:t>Microservices Architecture</a:t>
            </a:r>
          </a:p>
          <a:p>
            <a:r>
              <a:rPr lang="en-US" sz="1300" dirty="0">
                <a:solidFill>
                  <a:srgbClr val="00C896"/>
                </a:solidFill>
              </a:rPr>
              <a:t>✓ </a:t>
            </a:r>
            <a:r>
              <a:rPr lang="en-US" sz="1300" dirty="0">
                <a:solidFill>
                  <a:srgbClr val="CCDDEE"/>
                </a:solidFill>
              </a:rPr>
              <a:t>API Gateway Pattern</a:t>
            </a:r>
          </a:p>
          <a:p>
            <a:r>
              <a:rPr lang="en-US" sz="1300" dirty="0">
                <a:solidFill>
                  <a:srgbClr val="00C896"/>
                </a:solidFill>
              </a:rPr>
              <a:t>✓ </a:t>
            </a:r>
            <a:r>
              <a:rPr lang="en-US" sz="1300" dirty="0">
                <a:solidFill>
                  <a:srgbClr val="CCDDEE"/>
                </a:solidFill>
              </a:rPr>
              <a:t>RabbitMQ Messaging</a:t>
            </a:r>
          </a:p>
          <a:p>
            <a:r>
              <a:rPr lang="en-US" sz="1300" dirty="0">
                <a:solidFill>
                  <a:srgbClr val="00C896"/>
                </a:solidFill>
              </a:rPr>
              <a:t>✓ </a:t>
            </a:r>
            <a:r>
              <a:rPr lang="en-US" sz="1300" dirty="0">
                <a:solidFill>
                  <a:srgbClr val="CCDDEE"/>
                </a:solidFill>
              </a:rPr>
              <a:t>Agile Development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E6E97C-607C-2FE3-CBD6-03C17B23BD56}"/>
              </a:ext>
            </a:extLst>
          </p:cNvPr>
          <p:cNvSpPr txBox="1"/>
          <p:nvPr/>
        </p:nvSpPr>
        <p:spPr>
          <a:xfrm>
            <a:off x="665480" y="3445262"/>
            <a:ext cx="781304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libri"/>
              </a:rPr>
              <a:t>Project Implemented: </a:t>
            </a:r>
            <a:r>
              <a:rPr lang="en-US" sz="2000" b="1" dirty="0">
                <a:latin typeface="Calibri"/>
              </a:rPr>
              <a:t>BoltCart (</a:t>
            </a:r>
            <a:r>
              <a:rPr lang="en-US" b="1" dirty="0"/>
              <a:t>E-Commerce Product Management System) </a:t>
            </a:r>
            <a:r>
              <a:rPr lang="en-US" sz="1800" b="0" dirty="0">
                <a:latin typeface="Calibri"/>
              </a:rPr>
              <a:t>Full-stack microservices with auth, </a:t>
            </a:r>
            <a:r>
              <a:rPr lang="en-US" dirty="0"/>
              <a:t>product catalog management, inventory control, pricing, approval workflows, media management, user administration, and operational reporting.</a:t>
            </a:r>
            <a:endParaRPr lang="en-US" sz="1800" b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88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– BoltCart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The E-Commerce Product Management System (BoltCart) is a scalable, microservices-based web platform that automates product catalog management, inventory control, pricing, approval workflows, media management, user administration, and operational reporting.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199339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1993392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Microservices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288036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5 independently deployable services with API Gateway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87168" y="2331720"/>
            <a:ext cx="199339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87168" y="2331720"/>
            <a:ext cx="1993392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9689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Event-Driven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96896" y="288036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Asynchronous communication via RabbitMQ + MassTransit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08576" y="2331720"/>
            <a:ext cx="199339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08576" y="2331720"/>
            <a:ext cx="1993392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183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Full-Stack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18304" y="288036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Angular 21 frontend + ASP.NET Core (.NET 10) backend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29984" y="2331720"/>
            <a:ext cx="1993392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29984" y="2331720"/>
            <a:ext cx="1993392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3971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</a:rPr>
              <a:t>Secure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39712" y="2880360"/>
            <a:ext cx="1783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JWT auth, refresh tokens, role-based access control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</a:rPr>
              <a:t>Problem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362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Tightly coupled monolithic architectures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1911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Poor scalability &amp; inconsistent product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No centralized catalog or inventory control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" y="30083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Weak authentication &amp; authorization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1792" y="3557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Delayed product approval workflows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" y="4105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Difficult audit tracking across modules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896112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3E8"/>
                </a:solidFill>
              </a:rPr>
              <a:t>Objectives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00600" y="141732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74920" y="13624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Digitize &amp; automate product catalog 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196596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74920" y="191109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Build scalable microservices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51460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74920" y="24597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Implement JWT auth &amp; role-based access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06324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074920" y="30083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Automate approval workflows via event messaging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61188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74920" y="35570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Develop responsive Angular frontend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4160520"/>
            <a:ext cx="164592" cy="164592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74920" y="41056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Gain enterprise-level full-stack development skills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Microservices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29000" y="914400"/>
            <a:ext cx="2286000" cy="47548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29000" y="91440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 (Browser / Mobile)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389888"/>
            <a:ext cx="0" cy="347472"/>
          </a:xfrm>
          <a:prstGeom prst="line">
            <a:avLst/>
          </a:prstGeom>
          <a:noFill/>
          <a:ln w="254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0" y="1737360"/>
            <a:ext cx="3657600" cy="53035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743200" y="17373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CC"/>
                </a:solidFill>
              </a:rPr>
              <a:t>API Gateway (Ocelot :7292)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2267712"/>
            <a:ext cx="0" cy="256032"/>
          </a:xfrm>
          <a:prstGeom prst="line">
            <a:avLst/>
          </a:prstGeom>
          <a:noFill/>
          <a:ln w="1905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523744"/>
            <a:ext cx="1920240" cy="59436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5237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Identity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(Auth · JWT)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3118104"/>
            <a:ext cx="0" cy="20116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3319272"/>
            <a:ext cx="1828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D3A"/>
                </a:solidFill>
              </a:rPr>
              <a:t>IdentityDb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82112" y="2267712"/>
            <a:ext cx="0" cy="256032"/>
          </a:xfrm>
          <a:prstGeom prst="line">
            <a:avLst/>
          </a:prstGeom>
          <a:noFill/>
          <a:ln w="1905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450592" y="2523744"/>
            <a:ext cx="1920240" cy="5943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50592" y="25237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Catalog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(Products · Categories)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82112" y="3118104"/>
            <a:ext cx="0" cy="20116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496312" y="3319272"/>
            <a:ext cx="1828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496312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D3A"/>
                </a:solidFill>
              </a:rPr>
              <a:t>CatalogDb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58384" y="2267712"/>
            <a:ext cx="0" cy="256032"/>
          </a:xfrm>
          <a:prstGeom prst="line">
            <a:avLst/>
          </a:prstGeom>
          <a:noFill/>
          <a:ln w="1905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26864" y="2523744"/>
            <a:ext cx="1920240" cy="59436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25237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Workflow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(Pricing · Approval)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58384" y="3118104"/>
            <a:ext cx="0" cy="20116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72584" y="3319272"/>
            <a:ext cx="1828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72584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D3A"/>
                </a:solidFill>
              </a:rPr>
              <a:t>WorkflowDb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34656" y="2267712"/>
            <a:ext cx="0" cy="256032"/>
          </a:xfrm>
          <a:prstGeom prst="line">
            <a:avLst/>
          </a:prstGeom>
          <a:noFill/>
          <a:ln w="1905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803136" y="2523744"/>
            <a:ext cx="1920240" cy="594360"/>
          </a:xfrm>
          <a:prstGeom prst="rect">
            <a:avLst/>
          </a:prstGeom>
          <a:solidFill>
            <a:srgbClr val="713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03136" y="252374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Reporting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(Audit · Reports)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34656" y="3118104"/>
            <a:ext cx="0" cy="201168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848856" y="3319272"/>
            <a:ext cx="1828800" cy="41148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848856" y="331927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1D3A"/>
                </a:solidFill>
              </a:rPr>
              <a:t>ReportingDb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971800" y="4041648"/>
            <a:ext cx="3200400" cy="475488"/>
          </a:xfrm>
          <a:prstGeom prst="rect">
            <a:avLst/>
          </a:prstGeom>
          <a:solidFill>
            <a:srgbClr val="7C2D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71800" y="404164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RabbitMQ – Async Event Bus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" cy="5486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Backend Framework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50008" y="96012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ASP.NET Core (.NET 10)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618488"/>
            <a:ext cx="54864" cy="54864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" y="16184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Programming Language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50008" y="161848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C#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76856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54864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29768" y="22768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Frontend Framework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50008" y="2276856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Angular 21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2935224"/>
            <a:ext cx="54864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9768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Database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50008" y="29352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SQL Server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93592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3593592"/>
            <a:ext cx="54864" cy="54864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9768" y="3593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ORM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50008" y="359359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Entity Framework Core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78608" y="4319693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78608" y="4319693"/>
            <a:ext cx="54864" cy="548640"/>
          </a:xfrm>
          <a:prstGeom prst="rect">
            <a:avLst/>
          </a:prstGeom>
          <a:solidFill>
            <a:srgbClr val="065F4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688336" y="4319693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API Gateway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08576" y="4319693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Ocelot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960120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960120"/>
            <a:ext cx="54864" cy="548640"/>
          </a:xfrm>
          <a:prstGeom prst="rect">
            <a:avLst/>
          </a:prstGeom>
          <a:solidFill>
            <a:srgbClr val="713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18888" y="960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Authentication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39128" y="960120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JWT Authentication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1618488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09160" y="1618488"/>
            <a:ext cx="54864" cy="548640"/>
          </a:xfrm>
          <a:prstGeom prst="rect">
            <a:avLst/>
          </a:prstGeom>
          <a:solidFill>
            <a:srgbClr val="713F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18888" y="16184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Message Queue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39128" y="1618488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RabbitMQ + MassTransit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276856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2276856"/>
            <a:ext cx="54864" cy="54864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18888" y="227685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Logging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39128" y="2276856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Serilog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2935224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09160" y="2935224"/>
            <a:ext cx="54864" cy="548640"/>
          </a:xfrm>
          <a:prstGeom prst="rect">
            <a:avLst/>
          </a:prstGeom>
          <a:solidFill>
            <a:srgbClr val="6B21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18888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Testing / Docs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39128" y="293522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NUnit · Postman · Swagger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9160" y="3593592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709160" y="3593592"/>
            <a:ext cx="54864" cy="5486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4818888" y="35935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D3A"/>
                </a:solidFill>
              </a:rPr>
              <a:t>Version Control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39128" y="3593592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Git &amp; GitHub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29768" y="10241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User Auth &amp; Roles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37160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JWT login, refresh tokens, role-based access, password reset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932688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64408" y="932688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74136" y="10241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Product Catalog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74136" y="137160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Create / manage products, categories, variants, SKU generation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932688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08776" y="932688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18504" y="10241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Inventory &amp; Pricing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18504" y="137160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Stock updates, pricing control, availability monitoring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22576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29768" y="24140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Workflow &amp; Approval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" y="2761488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Draft → Pending → Approved → Published lifecycle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2322576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64408" y="2322576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74136" y="24140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API Gateway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74136" y="2761488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Centralized routing, CORS, exception handling via Ocelot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2322576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08776" y="2322576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18504" y="2414016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Event Messaging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18504" y="2761488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Async RabbitMQ events between services (publish / consume)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3712464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9768" y="38039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Admin &amp; Reports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29768" y="4151376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Dashboard analytics, user management, audit trail, reporting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3712464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3264408" y="3712464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74136" y="38039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Media 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74136" y="4151376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Product image upload, metadata, media association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08776" y="3712464"/>
            <a:ext cx="278892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208776" y="3712464"/>
            <a:ext cx="278892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318504" y="3803904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</a:rPr>
              <a:t>Angular Frontend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18504" y="4151376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Standalone components, lazy loading, route guards, signals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Work Done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66344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1. Requirement Analysis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6344" y="135331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Analyzed case study; identified user roles, workflows, auth &amp; reporting needs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01184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2. Architecture Planning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01184" y="135331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Designed microservices layout; selected Ocelot Gateway &amp; RabbitMQ messaging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" y="2011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3. Backend Development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" y="235915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Built REST APIs in ASP.NET Core; JWT auth, EF Core migrations, Serilog logging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01184" y="20116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4. Frontend Development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01184" y="235915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Angular 21 – standalone components, signals, route guards, HTTP interceptors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6344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5. Database Design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" y="336499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Database-per-service with SQL Server; entity relations &amp; migrations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97180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901184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6. RabbitMQ Integration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01184" y="336499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Product status events, user count updates; MassTransit publish/consume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776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0040" y="397764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6344" y="4023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7. API Gateway Config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66344" y="437083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Ocelot routing, CORS policies, gateway-level exception handling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6052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977640"/>
            <a:ext cx="64008" cy="86868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01184" y="4023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A"/>
                </a:solidFill>
              </a:rPr>
              <a:t>8. Testing &amp; Debugging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01184" y="4370832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</a:rPr>
              <a:t>Swagger, Postman API tests; NUnit unit tests; end-to-end integration testing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Skills Gained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Technical Skills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08176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Enterprise microservices architecture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6928" y="1709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ASP.NET Core / .NET 10 backend APIs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66928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Angular 21 – signals, standalone components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6928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JWT + refresh token authentication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66928" y="2779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RabbitMQ event-driven communication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91256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Entity Framework Core Code-First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6928" y="3493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SQL Server database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904488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66928" y="384962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API Gateway (Ocelot) configuration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66928" y="42062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REST API design &amp; Swagger documentation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617720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6928" y="456285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NUnit testing &amp; Serilog logging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896112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</a:rPr>
              <a:t>Professional Growth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1408176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010912" y="1353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Structured project documentation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1764792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10912" y="17099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Analytical &amp; architectural thinking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2121408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10912" y="20665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Time management &amp; sprint planning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2478024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010912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Debugging large-scale applications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834640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010912" y="277977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Industry-standard version control (Git)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3191256"/>
            <a:ext cx="137160" cy="137160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10912" y="31363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Professional communication &amp; reporting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00600" y="3547872"/>
            <a:ext cx="1280160" cy="1371600"/>
          </a:xfrm>
          <a:prstGeom prst="rect">
            <a:avLst/>
          </a:prstGeom>
          <a:solidFill>
            <a:srgbClr val="0B1D3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00600" y="3593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4CC"/>
                </a:solidFill>
              </a:rPr>
              <a:t>5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800600" y="41879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Microservices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Built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3547872"/>
            <a:ext cx="1280160" cy="1371600"/>
          </a:xfrm>
          <a:prstGeom prst="rect">
            <a:avLst/>
          </a:prstGeom>
          <a:solidFill>
            <a:srgbClr val="0B1D3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17920" y="3593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4CC"/>
                </a:solidFill>
              </a:rPr>
              <a:t>5+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217920" y="41879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Months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Duration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35240" y="3547872"/>
            <a:ext cx="1280160" cy="1371600"/>
          </a:xfrm>
          <a:prstGeom prst="rect">
            <a:avLst/>
          </a:prstGeom>
          <a:solidFill>
            <a:srgbClr val="0B1D3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635240" y="3593592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C4CC"/>
                </a:solidFill>
              </a:rPr>
              <a:t>30+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635240" y="41879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REST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FF9"/>
                </a:solidFill>
              </a:rPr>
              <a:t>Endpoints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3566160"/>
            <a:ext cx="1463040" cy="1463040"/>
          </a:xfrm>
          <a:prstGeom prst="ellipse">
            <a:avLst/>
          </a:prstGeom>
          <a:solidFill>
            <a:srgbClr val="112E59"/>
          </a:solidFill>
          <a:ln w="12700">
            <a:solidFill>
              <a:srgbClr val="112E5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046720" y="4114800"/>
            <a:ext cx="640080" cy="64008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685800"/>
            <a:ext cx="1737360" cy="320040"/>
          </a:xfrm>
          <a:prstGeom prst="roundRect">
            <a:avLst>
              <a:gd name="adj" fmla="val 11429"/>
            </a:avLst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D3A"/>
                </a:solidFill>
              </a:rPr>
              <a:t>CONCLUSION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1155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FF9"/>
                </a:solidFill>
              </a:rPr>
              <a:t>Developing BoltCart from scratch delivered deep hands-on exposure to enterprise-grade full-stack engineering. The project reinforced microservices design, event-driven communication, secure API development, and responsive frontend development — skills directly aligned with industry demands.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81635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81635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936" y="281635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Built 5 independently deployable microservices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281635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49040" y="281635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77056" y="281635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Implemented secure JWT auth &amp; refresh token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45643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345643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936" y="345643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Integrated RabbitMQ for async service communication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749040" y="345643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345643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77056" y="345643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Developed complete Angular 21 product management UI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09651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02920" y="409651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0936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Practiced full SDLC: design → dev → test → document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49040" y="4096512"/>
            <a:ext cx="3035808" cy="502920"/>
          </a:xfrm>
          <a:prstGeom prst="rect">
            <a:avLst/>
          </a:prstGeom>
          <a:solidFill>
            <a:srgbClr val="0D2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749040" y="4096512"/>
            <a:ext cx="54864" cy="50292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77056" y="4096512"/>
            <a:ext cx="28712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FF9"/>
                </a:solidFill>
              </a:rPr>
              <a:t>Strengthened analytical thinking &amp; problem-solving skills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0D6CB-AF32-6556-0C8E-01D7E609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2A527A-9F1B-0AE5-A044-02C93F1CC9A2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74A95-B35B-D53E-0449-A28B0C0BA429}"/>
              </a:ext>
            </a:extLst>
          </p:cNvPr>
          <p:cNvSpPr txBox="1"/>
          <p:nvPr/>
        </p:nvSpPr>
        <p:spPr>
          <a:xfrm>
            <a:off x="2646680" y="2063918"/>
            <a:ext cx="38506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160513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932</Words>
  <Application>Microsoft Office PowerPoint</Application>
  <PresentationFormat>On-screen Show (16:9)</PresentationFormat>
  <Paragraphs>194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Management System – ETP Viva</dc:title>
  <dc:subject>PptxGenJS Presentation</dc:subject>
  <dc:creator>Abhinandan Sah</dc:creator>
  <cp:lastModifiedBy>Abhinandan Sah</cp:lastModifiedBy>
  <cp:revision>13</cp:revision>
  <dcterms:created xsi:type="dcterms:W3CDTF">2026-06-05T09:08:31Z</dcterms:created>
  <dcterms:modified xsi:type="dcterms:W3CDTF">2026-06-05T16:37:25Z</dcterms:modified>
</cp:coreProperties>
</file>
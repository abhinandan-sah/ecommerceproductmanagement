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Kanit" panose="020B0604020202020204" charset="-34"/>
      <p:regular r:id="rId14"/>
    </p:embeddedFont>
    <p:embeddedFont>
      <p:font typeface="Martel Sans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578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B99BC-B397-DCF8-E29F-268016C8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5A928-F178-6D08-018E-FC1136D29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76E6D-4331-DAD6-5B8B-5719564FB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18496-67AE-9242-878F-38B5633EBC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sv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20" Type="http://schemas.openxmlformats.org/officeDocument/2006/relationships/image" Target="../media/image31.sv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24" Type="http://schemas.openxmlformats.org/officeDocument/2006/relationships/image" Target="../media/image35.png"/><Relationship Id="rId5" Type="http://schemas.openxmlformats.org/officeDocument/2006/relationships/image" Target="../media/image16.svg"/><Relationship Id="rId15" Type="http://schemas.openxmlformats.org/officeDocument/2006/relationships/image" Target="../media/image26.png"/><Relationship Id="rId23" Type="http://schemas.openxmlformats.org/officeDocument/2006/relationships/image" Target="../media/image34.svg"/><Relationship Id="rId28" Type="http://schemas.openxmlformats.org/officeDocument/2006/relationships/image" Target="../media/image39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3.png"/><Relationship Id="rId27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21" Type="http://schemas.openxmlformats.org/officeDocument/2006/relationships/image" Target="../media/image45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9.png"/><Relationship Id="rId20" Type="http://schemas.openxmlformats.org/officeDocument/2006/relationships/image" Target="../media/image63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5" Type="http://schemas.openxmlformats.org/officeDocument/2006/relationships/image" Target="../media/image48.sv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393" y="0"/>
            <a:ext cx="5637007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3777" y="2903577"/>
            <a:ext cx="5246846" cy="24223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7724" y="238756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E-Commerce Product Management System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837724" y="415456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37724" y="480679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Student Name: </a:t>
            </a: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Abhinandan Sah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37724" y="5459016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5543" y="574358"/>
            <a:ext cx="4224338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Project Overview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78161" y="1820700"/>
            <a:ext cx="6215420" cy="1005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comprehensive product management platform designed for modern e-commerce operations. The system provides structured management of product data, approval workflows, inventory tracking, and detailed reporting capabilities.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78161" y="351410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Core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85543" y="4008596"/>
            <a:ext cx="6215420" cy="1444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Products, categories, and variants management</a:t>
            </a:r>
            <a:endParaRPr lang="en-US" sz="16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Media asset handling </a:t>
            </a:r>
            <a:endParaRPr lang="en-US" sz="16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Pricing and inventory control</a:t>
            </a:r>
            <a:endParaRPr lang="en-US" sz="16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Multi-stage approval workflows</a:t>
            </a:r>
            <a:endParaRPr lang="en-US" sz="16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Dashboard and audit trail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8160" y="6025761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Role-Based Access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78160" y="6424264"/>
            <a:ext cx="6215420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Four distinct user roles: </a:t>
            </a: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Admin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Manager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</a:t>
            </a: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Content Executive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and </a:t>
            </a:r>
            <a:r>
              <a:rPr lang="en-US" sz="16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Customer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101" y="517825"/>
            <a:ext cx="5005745" cy="237744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772" y="3013790"/>
            <a:ext cx="5494202" cy="2377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46494" y="7282696"/>
            <a:ext cx="5005745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964BBE-0312-5633-5543-5E72A9D14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8368" y="7738475"/>
            <a:ext cx="1705213" cy="3905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766C81-A2E9-7EB2-6756-CEAA370E1D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654" y="5579486"/>
            <a:ext cx="5124438" cy="2270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7318" y="457557"/>
            <a:ext cx="290417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Problem and Solution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307461" y="947738"/>
            <a:ext cx="15240" cy="1658660"/>
          </a:xfrm>
          <a:prstGeom prst="roundRect">
            <a:avLst>
              <a:gd name="adj" fmla="val 121487"/>
            </a:avLst>
          </a:prstGeom>
          <a:solidFill>
            <a:srgbClr val="48446D"/>
          </a:solidFill>
          <a:ln/>
        </p:spPr>
      </p:sp>
      <p:sp>
        <p:nvSpPr>
          <p:cNvPr id="4" name="Shape 2"/>
          <p:cNvSpPr/>
          <p:nvPr/>
        </p:nvSpPr>
        <p:spPr>
          <a:xfrm>
            <a:off x="3292078" y="947738"/>
            <a:ext cx="4007763" cy="765691"/>
          </a:xfrm>
          <a:prstGeom prst="roundRect">
            <a:avLst>
              <a:gd name="adj" fmla="val 2418"/>
            </a:avLst>
          </a:prstGeom>
          <a:solidFill>
            <a:srgbClr val="2F2B54"/>
          </a:solidFill>
          <a:ln/>
        </p:spPr>
      </p:sp>
      <p:sp>
        <p:nvSpPr>
          <p:cNvPr id="5" name="Text 3"/>
          <p:cNvSpPr/>
          <p:nvPr/>
        </p:nvSpPr>
        <p:spPr>
          <a:xfrm>
            <a:off x="5724406" y="1071086"/>
            <a:ext cx="14520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15427" y="1290757"/>
            <a:ext cx="3761065" cy="29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data requires structured, centralized management across multiple stakeholders.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30321" y="1840706"/>
            <a:ext cx="4007882" cy="765691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8" name="Text 6"/>
          <p:cNvSpPr/>
          <p:nvPr/>
        </p:nvSpPr>
        <p:spPr>
          <a:xfrm>
            <a:off x="7453670" y="1964055"/>
            <a:ext cx="14520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3670" y="2183725"/>
            <a:ext cx="3761184" cy="29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Angular UI with role-specific dashboards and data management modules.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07461" y="2677954"/>
            <a:ext cx="15240" cy="1658660"/>
          </a:xfrm>
          <a:prstGeom prst="roundRect">
            <a:avLst>
              <a:gd name="adj" fmla="val 121487"/>
            </a:avLst>
          </a:prstGeom>
          <a:solidFill>
            <a:srgbClr val="48446D"/>
          </a:solidFill>
          <a:ln/>
        </p:spPr>
      </p:sp>
      <p:sp>
        <p:nvSpPr>
          <p:cNvPr id="11" name="Shape 9"/>
          <p:cNvSpPr/>
          <p:nvPr/>
        </p:nvSpPr>
        <p:spPr>
          <a:xfrm>
            <a:off x="3292078" y="2677954"/>
            <a:ext cx="4007763" cy="765691"/>
          </a:xfrm>
          <a:prstGeom prst="roundRect">
            <a:avLst>
              <a:gd name="adj" fmla="val 2418"/>
            </a:avLst>
          </a:prstGeom>
          <a:solidFill>
            <a:srgbClr val="2F2B54"/>
          </a:solidFill>
          <a:ln/>
        </p:spPr>
      </p:sp>
      <p:sp>
        <p:nvSpPr>
          <p:cNvPr id="12" name="Text 10"/>
          <p:cNvSpPr/>
          <p:nvPr/>
        </p:nvSpPr>
        <p:spPr>
          <a:xfrm>
            <a:off x="5724406" y="2801303"/>
            <a:ext cx="14520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Problem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15427" y="3020973"/>
            <a:ext cx="3761065" cy="29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Approval workflow needed before product publishing to ensure quality control.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30321" y="3570923"/>
            <a:ext cx="4007882" cy="765691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15" name="Text 13"/>
          <p:cNvSpPr/>
          <p:nvPr/>
        </p:nvSpPr>
        <p:spPr>
          <a:xfrm>
            <a:off x="7453670" y="3694271"/>
            <a:ext cx="14520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53670" y="3913942"/>
            <a:ext cx="3761184" cy="29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approval module with multi-stage review and approval processes.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07461" y="4408170"/>
            <a:ext cx="15240" cy="1658660"/>
          </a:xfrm>
          <a:prstGeom prst="roundRect">
            <a:avLst>
              <a:gd name="adj" fmla="val 121487"/>
            </a:avLst>
          </a:prstGeom>
          <a:solidFill>
            <a:srgbClr val="48446D"/>
          </a:solidFill>
          <a:ln/>
        </p:spPr>
      </p:sp>
      <p:sp>
        <p:nvSpPr>
          <p:cNvPr id="18" name="Shape 16"/>
          <p:cNvSpPr/>
          <p:nvPr/>
        </p:nvSpPr>
        <p:spPr>
          <a:xfrm>
            <a:off x="3307318" y="4408170"/>
            <a:ext cx="3992523" cy="765691"/>
          </a:xfrm>
          <a:prstGeom prst="roundRect">
            <a:avLst>
              <a:gd name="adj" fmla="val 2418"/>
            </a:avLst>
          </a:prstGeom>
          <a:solidFill>
            <a:srgbClr val="2F2B54"/>
          </a:solidFill>
          <a:ln/>
        </p:spPr>
      </p:sp>
      <p:sp>
        <p:nvSpPr>
          <p:cNvPr id="19" name="Text 17"/>
          <p:cNvSpPr/>
          <p:nvPr/>
        </p:nvSpPr>
        <p:spPr>
          <a:xfrm>
            <a:off x="5724406" y="4531519"/>
            <a:ext cx="14520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Problem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15427" y="4751189"/>
            <a:ext cx="3761065" cy="29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Managers need reporting and inventory visibility for decision-making.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30321" y="5301139"/>
            <a:ext cx="4007882" cy="765691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22" name="Text 20"/>
          <p:cNvSpPr/>
          <p:nvPr/>
        </p:nvSpPr>
        <p:spPr>
          <a:xfrm>
            <a:off x="7453670" y="5424488"/>
            <a:ext cx="14520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Solution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3670" y="5644158"/>
            <a:ext cx="3761184" cy="29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Reporting API with dashboard KPIs, CSV export, and inventory tracking.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07461" y="6138386"/>
            <a:ext cx="15240" cy="1633538"/>
          </a:xfrm>
          <a:prstGeom prst="roundRect">
            <a:avLst>
              <a:gd name="adj" fmla="val 121487"/>
            </a:avLst>
          </a:prstGeom>
          <a:solidFill>
            <a:srgbClr val="48446D"/>
          </a:solidFill>
          <a:ln/>
        </p:spPr>
      </p:sp>
      <p:sp>
        <p:nvSpPr>
          <p:cNvPr id="25" name="Shape 23"/>
          <p:cNvSpPr/>
          <p:nvPr/>
        </p:nvSpPr>
        <p:spPr>
          <a:xfrm>
            <a:off x="1650402" y="6138386"/>
            <a:ext cx="5649439" cy="740569"/>
          </a:xfrm>
          <a:prstGeom prst="roundRect">
            <a:avLst>
              <a:gd name="adj" fmla="val 2500"/>
            </a:avLst>
          </a:prstGeom>
          <a:solidFill>
            <a:srgbClr val="2F2B54"/>
          </a:solidFill>
          <a:ln/>
        </p:spPr>
      </p:sp>
      <p:sp>
        <p:nvSpPr>
          <p:cNvPr id="26" name="Text 24"/>
          <p:cNvSpPr/>
          <p:nvPr/>
        </p:nvSpPr>
        <p:spPr>
          <a:xfrm>
            <a:off x="5724406" y="6261735"/>
            <a:ext cx="14520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Problem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15427" y="6481405"/>
            <a:ext cx="3761065" cy="149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Admins need user and audit control for security and compliance.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30321" y="7006233"/>
            <a:ext cx="4007882" cy="765691"/>
          </a:xfrm>
          <a:prstGeom prst="rect">
            <a:avLst/>
          </a:prstGeom>
          <a:solidFill>
            <a:srgbClr val="2F2B54"/>
          </a:solidFill>
          <a:ln/>
        </p:spPr>
      </p:sp>
      <p:sp>
        <p:nvSpPr>
          <p:cNvPr id="29" name="Text 27"/>
          <p:cNvSpPr/>
          <p:nvPr/>
        </p:nvSpPr>
        <p:spPr>
          <a:xfrm>
            <a:off x="7453670" y="7129582"/>
            <a:ext cx="145208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Solution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53670" y="7349252"/>
            <a:ext cx="3761184" cy="299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Identity API with user management and audit trail for important actions.</a:t>
            </a:r>
            <a:endParaRPr lang="en-US" sz="14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74BA56D-DC89-7FD6-A0B0-E000F15B5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3843" y="7632439"/>
            <a:ext cx="1943100" cy="523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212" y="598646"/>
            <a:ext cx="4767977" cy="56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High-Level Architecture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212" y="1463635"/>
            <a:ext cx="953691" cy="1144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26826" y="1654373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User / Browser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2226826" y="2026087"/>
            <a:ext cx="11282243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Angular Frontend Application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212" y="2608064"/>
            <a:ext cx="953691" cy="11444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26826" y="2798802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API Gateway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2226826" y="3170515"/>
            <a:ext cx="11282243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Ocelot Gateway with JWT Validation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212" y="3752493"/>
            <a:ext cx="953691" cy="11444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26826" y="3943231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Backend Services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2226826" y="4314944"/>
            <a:ext cx="11282243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Identity.API, Catalog.API, Workflow.API, Reporting.API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212" y="4896922"/>
            <a:ext cx="953691" cy="11444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26826" y="5087660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Message Broker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2226826" y="5459373"/>
            <a:ext cx="11282243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RabbitMQ with MassTransit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212" y="6041350"/>
            <a:ext cx="953691" cy="11444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226826" y="6232088"/>
            <a:ext cx="2244090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Storage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2226826" y="6603802"/>
            <a:ext cx="11282243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SQL Server Databases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121212" y="7356753"/>
            <a:ext cx="12387858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Services communicate through the API Gateway and publish events via RabbitMQ for reporting and audit purposes.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D4882D-B208-8C93-53ED-F9580560D8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77332" y="7722037"/>
            <a:ext cx="1853068" cy="507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1649" y="659011"/>
            <a:ext cx="5456396" cy="68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Backend Services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811649" y="1790224"/>
            <a:ext cx="13007102" cy="5780246"/>
          </a:xfrm>
          <a:prstGeom prst="roundRect">
            <a:avLst>
              <a:gd name="adj" fmla="val 60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1940243"/>
            <a:ext cx="6028492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Service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50825" y="1940243"/>
            <a:ext cx="6028492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Responsibility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084" y="2597944"/>
            <a:ext cx="6028492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Identity.API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50825" y="2597944"/>
            <a:ext cx="6028492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User authentication, registration, JWT tokens, refresh tokens, user management, and role-based authorization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084" y="3620929"/>
            <a:ext cx="6028492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Catalog.API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50825" y="3620929"/>
            <a:ext cx="6028492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catalogue management, categories, variants, media assets, and automatic SKU generation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084" y="4643914"/>
            <a:ext cx="6028492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Workflow.API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50825" y="4643914"/>
            <a:ext cx="6028492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Pricing rules, inventory tracking, product submission for review, and multi-stage approval workflows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084" y="5666899"/>
            <a:ext cx="6028492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Reporting.API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50825" y="5666899"/>
            <a:ext cx="6028492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Dashboard KPIs, comprehensive reports, CSV export functionality, and complete audit trail recording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084" y="6689884"/>
            <a:ext cx="6028492" cy="365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Gateway.API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50825" y="6689884"/>
            <a:ext cx="6028492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Request routing, JWT validation, CORS handling, and Swagger UI aggregation for all services</a:t>
            </a:r>
            <a:endParaRPr lang="en-US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C4CC68-BC0A-0FFB-8D37-F5BB20BFE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9605" y="7655214"/>
            <a:ext cx="1705213" cy="5743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28762" y="647581"/>
            <a:ext cx="3740348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72314" y="1157214"/>
            <a:ext cx="2816185" cy="509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Frontend Modules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532756" y="1937237"/>
            <a:ext cx="3740348" cy="1037392"/>
          </a:xfrm>
          <a:prstGeom prst="roundRect">
            <a:avLst>
              <a:gd name="adj" fmla="val 1731"/>
            </a:avLst>
          </a:prstGeom>
          <a:solidFill>
            <a:srgbClr val="2F2B5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413" y="2056895"/>
            <a:ext cx="358973" cy="35897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1116" y="2155479"/>
            <a:ext cx="161568" cy="1615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52413" y="247563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Auth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652413" y="2711382"/>
            <a:ext cx="3501033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Login and registration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532756" y="3034398"/>
            <a:ext cx="3740348" cy="1037392"/>
          </a:xfrm>
          <a:prstGeom prst="roundRect">
            <a:avLst>
              <a:gd name="adj" fmla="val 1731"/>
            </a:avLst>
          </a:prstGeom>
          <a:solidFill>
            <a:srgbClr val="2F2B5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413" y="3154056"/>
            <a:ext cx="358973" cy="358973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51116" y="3252640"/>
            <a:ext cx="161568" cy="1615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52413" y="3572799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Storefront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652413" y="3808542"/>
            <a:ext cx="3501033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browsing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532756" y="4131559"/>
            <a:ext cx="3740348" cy="1037392"/>
          </a:xfrm>
          <a:prstGeom prst="roundRect">
            <a:avLst>
              <a:gd name="adj" fmla="val 1731"/>
            </a:avLst>
          </a:prstGeom>
          <a:solidFill>
            <a:srgbClr val="2F2B54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2413" y="4251217"/>
            <a:ext cx="358973" cy="358973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1116" y="4349801"/>
            <a:ext cx="161568" cy="1615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652413" y="4669960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Catalog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6652413" y="4905703"/>
            <a:ext cx="3501033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management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6532756" y="5228720"/>
            <a:ext cx="3740348" cy="1037392"/>
          </a:xfrm>
          <a:prstGeom prst="roundRect">
            <a:avLst>
              <a:gd name="adj" fmla="val 1731"/>
            </a:avLst>
          </a:prstGeom>
          <a:solidFill>
            <a:srgbClr val="2F2B54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52413" y="5348378"/>
            <a:ext cx="358973" cy="358973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51116" y="5446962"/>
            <a:ext cx="161568" cy="1615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652413" y="5767121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Workflow</a:t>
            </a:r>
            <a:endParaRPr lang="en-US" sz="1100" dirty="0"/>
          </a:p>
        </p:txBody>
      </p:sp>
      <p:sp>
        <p:nvSpPr>
          <p:cNvPr id="24" name="Text 14"/>
          <p:cNvSpPr/>
          <p:nvPr/>
        </p:nvSpPr>
        <p:spPr>
          <a:xfrm>
            <a:off x="6652413" y="6002864"/>
            <a:ext cx="3501033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Approval processes</a:t>
            </a:r>
            <a:endParaRPr lang="en-US" sz="900" dirty="0"/>
          </a:p>
        </p:txBody>
      </p:sp>
      <p:sp>
        <p:nvSpPr>
          <p:cNvPr id="25" name="Shape 15"/>
          <p:cNvSpPr/>
          <p:nvPr/>
        </p:nvSpPr>
        <p:spPr>
          <a:xfrm>
            <a:off x="10371807" y="1941344"/>
            <a:ext cx="3740348" cy="1024859"/>
          </a:xfrm>
          <a:prstGeom prst="roundRect">
            <a:avLst>
              <a:gd name="adj" fmla="val 1731"/>
            </a:avLst>
          </a:prstGeom>
          <a:solidFill>
            <a:srgbClr val="2F2B54"/>
          </a:solidFill>
          <a:ln/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91465" y="1971915"/>
            <a:ext cx="358973" cy="328403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90168" y="2053686"/>
            <a:ext cx="161568" cy="147809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0491465" y="2375073"/>
            <a:ext cx="1408033" cy="16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9" name="Text 17"/>
          <p:cNvSpPr/>
          <p:nvPr/>
        </p:nvSpPr>
        <p:spPr>
          <a:xfrm>
            <a:off x="10491465" y="2608059"/>
            <a:ext cx="3501033" cy="13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Overview and metrics</a:t>
            </a:r>
            <a:endParaRPr lang="en-US" sz="900" dirty="0"/>
          </a:p>
        </p:txBody>
      </p:sp>
      <p:sp>
        <p:nvSpPr>
          <p:cNvPr id="30" name="Shape 18"/>
          <p:cNvSpPr/>
          <p:nvPr/>
        </p:nvSpPr>
        <p:spPr>
          <a:xfrm>
            <a:off x="10392761" y="3094477"/>
            <a:ext cx="3740348" cy="968887"/>
          </a:xfrm>
          <a:prstGeom prst="roundRect">
            <a:avLst>
              <a:gd name="adj" fmla="val 1731"/>
            </a:avLst>
          </a:prstGeom>
          <a:solidFill>
            <a:srgbClr val="2F2B54"/>
          </a:solidFill>
          <a:ln/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91465" y="3069076"/>
            <a:ext cx="358973" cy="328403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590168" y="3150847"/>
            <a:ext cx="161568" cy="147809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10491465" y="3472234"/>
            <a:ext cx="1408033" cy="16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34" name="Text 20"/>
          <p:cNvSpPr/>
          <p:nvPr/>
        </p:nvSpPr>
        <p:spPr>
          <a:xfrm>
            <a:off x="10491465" y="3705220"/>
            <a:ext cx="3501033" cy="13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Stock tracking</a:t>
            </a:r>
            <a:endParaRPr lang="en-US" sz="900" dirty="0"/>
          </a:p>
        </p:txBody>
      </p:sp>
      <p:sp>
        <p:nvSpPr>
          <p:cNvPr id="35" name="Shape 21"/>
          <p:cNvSpPr/>
          <p:nvPr/>
        </p:nvSpPr>
        <p:spPr>
          <a:xfrm>
            <a:off x="10371808" y="4166236"/>
            <a:ext cx="3740348" cy="998338"/>
          </a:xfrm>
          <a:prstGeom prst="roundRect">
            <a:avLst>
              <a:gd name="adj" fmla="val 1731"/>
            </a:avLst>
          </a:prstGeom>
          <a:solidFill>
            <a:srgbClr val="2F2B54"/>
          </a:solidFill>
          <a:ln/>
        </p:spPr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91465" y="4166236"/>
            <a:ext cx="358973" cy="328403"/>
          </a:xfrm>
          <a:prstGeom prst="rect">
            <a:avLst/>
          </a:prstGeom>
        </p:spPr>
      </p:pic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590168" y="4248008"/>
            <a:ext cx="161568" cy="147809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10491465" y="4569395"/>
            <a:ext cx="1408033" cy="16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39" name="Text 23"/>
          <p:cNvSpPr/>
          <p:nvPr/>
        </p:nvSpPr>
        <p:spPr>
          <a:xfrm>
            <a:off x="10491465" y="4802381"/>
            <a:ext cx="3501033" cy="13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Analytics and exports</a:t>
            </a:r>
            <a:endParaRPr lang="en-US" sz="900" dirty="0"/>
          </a:p>
        </p:txBody>
      </p:sp>
      <p:sp>
        <p:nvSpPr>
          <p:cNvPr id="40" name="Shape 24"/>
          <p:cNvSpPr/>
          <p:nvPr/>
        </p:nvSpPr>
        <p:spPr>
          <a:xfrm>
            <a:off x="10371808" y="5263396"/>
            <a:ext cx="3740348" cy="1024859"/>
          </a:xfrm>
          <a:prstGeom prst="roundRect">
            <a:avLst>
              <a:gd name="adj" fmla="val 1731"/>
            </a:avLst>
          </a:prstGeom>
          <a:solidFill>
            <a:srgbClr val="2F2B54"/>
          </a:solidFill>
          <a:ln/>
        </p:spPr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91465" y="5263397"/>
            <a:ext cx="358973" cy="328403"/>
          </a:xfrm>
          <a:prstGeom prst="rect">
            <a:avLst/>
          </a:prstGeom>
        </p:spPr>
      </p:pic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590168" y="5345169"/>
            <a:ext cx="161568" cy="147809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10491465" y="5666556"/>
            <a:ext cx="1408033" cy="16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Audit</a:t>
            </a:r>
            <a:endParaRPr lang="en-US" sz="1100" dirty="0"/>
          </a:p>
        </p:txBody>
      </p:sp>
      <p:sp>
        <p:nvSpPr>
          <p:cNvPr id="44" name="Text 26"/>
          <p:cNvSpPr/>
          <p:nvPr/>
        </p:nvSpPr>
        <p:spPr>
          <a:xfrm>
            <a:off x="10491465" y="5899542"/>
            <a:ext cx="3501033" cy="131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Action logging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97EB613-58EB-DF41-ECC2-0D6B6737F5F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4058" y="1056031"/>
            <a:ext cx="6258087" cy="402609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4B2C8C0-13F0-A42A-15B7-16C173952FB1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7201" y="5228720"/>
            <a:ext cx="5771800" cy="256761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E5457B3-DDAF-9B47-01D8-E3330CE60AC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34653" y="7790958"/>
            <a:ext cx="1676634" cy="3633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20842"/>
            <a:ext cx="676763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Role-Based Access Control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203609"/>
            <a:ext cx="12954952" cy="5005030"/>
          </a:xfrm>
          <a:prstGeom prst="roundRect">
            <a:avLst>
              <a:gd name="adj" fmla="val 71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4659" y="2362438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Role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558326" y="2362438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Access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84659" y="3055501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Admin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558326" y="3055501"/>
            <a:ext cx="59874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User management, approval workflows, reporting, audit trail, full system administration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84659" y="4131588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Manager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558326" y="4131588"/>
            <a:ext cx="59874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creation and editing, pricing configuration, inventory management, reporting access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84659" y="5207675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Content Executive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558326" y="5207675"/>
            <a:ext cx="59874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content management, media assets, product submission for review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84659" y="6283762"/>
            <a:ext cx="598741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Customer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558326" y="6283762"/>
            <a:ext cx="59874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Product browsing, catalogue access, profile management</a:t>
            </a:r>
            <a:endParaRPr lang="en-US" sz="1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5A2425-8911-1D30-008F-B3BFA2606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8847" y="7687388"/>
            <a:ext cx="1705213" cy="4669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2881" y="473393"/>
            <a:ext cx="3784283" cy="472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Business Flows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092881" y="989528"/>
            <a:ext cx="2270522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Authentication Flow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881" y="1435298"/>
            <a:ext cx="5222319" cy="643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53615" y="2186583"/>
            <a:ext cx="1892141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Login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253615" y="2487811"/>
            <a:ext cx="490085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User credentials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435298"/>
            <a:ext cx="5222319" cy="6432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75934" y="2186583"/>
            <a:ext cx="1892141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Identity API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475934" y="2487811"/>
            <a:ext cx="490085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Validation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2881" y="2863572"/>
            <a:ext cx="5222319" cy="6432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53615" y="3614857"/>
            <a:ext cx="1892141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JWT Issued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2253615" y="3916085"/>
            <a:ext cx="490085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Token generation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863572"/>
            <a:ext cx="5222319" cy="6432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75934" y="3614857"/>
            <a:ext cx="1892141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Role Dashboard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7475934" y="3916085"/>
            <a:ext cx="490085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Access granted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2092881" y="4453890"/>
            <a:ext cx="230064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Product Approval Flow</a:t>
            </a:r>
            <a:endParaRPr lang="en-US" sz="17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881" y="4899660"/>
            <a:ext cx="5222319" cy="64329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253615" y="5650944"/>
            <a:ext cx="1892141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Create Product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2253615" y="5952172"/>
            <a:ext cx="490085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Draft status</a:t>
            </a:r>
            <a:endParaRPr lang="en-US" sz="12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899660"/>
            <a:ext cx="5222319" cy="64329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75934" y="5650944"/>
            <a:ext cx="1892141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Submit Review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7475934" y="5952172"/>
            <a:ext cx="490085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Pending approval</a:t>
            </a:r>
            <a:endParaRPr lang="en-US" sz="12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2881" y="6327934"/>
            <a:ext cx="5222319" cy="64329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253615" y="7079218"/>
            <a:ext cx="1892141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Admin Review</a:t>
            </a:r>
            <a:endParaRPr lang="en-US" sz="1450" dirty="0"/>
          </a:p>
        </p:txBody>
      </p:sp>
      <p:sp>
        <p:nvSpPr>
          <p:cNvPr id="25" name="Text 16"/>
          <p:cNvSpPr/>
          <p:nvPr/>
        </p:nvSpPr>
        <p:spPr>
          <a:xfrm>
            <a:off x="2253615" y="7380446"/>
            <a:ext cx="490085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Approve or reject</a:t>
            </a:r>
            <a:endParaRPr lang="en-US" sz="12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6327934"/>
            <a:ext cx="5222319" cy="64329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75934" y="7079218"/>
            <a:ext cx="1892141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Update Reporting</a:t>
            </a:r>
            <a:endParaRPr lang="en-US" sz="1450" dirty="0"/>
          </a:p>
        </p:txBody>
      </p:sp>
      <p:sp>
        <p:nvSpPr>
          <p:cNvPr id="28" name="Text 18"/>
          <p:cNvSpPr/>
          <p:nvPr/>
        </p:nvSpPr>
        <p:spPr>
          <a:xfrm>
            <a:off x="7475934" y="7380446"/>
            <a:ext cx="490085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Audit logged</a:t>
            </a:r>
            <a:endParaRPr lang="en-US" sz="12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7F439DD-0BB7-6837-49BD-8D63501E68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87029" y="7595473"/>
            <a:ext cx="1943371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68517"/>
            <a:ext cx="785907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Database and Testing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7708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Database Contexts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362087"/>
            <a:ext cx="6185535" cy="3315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IdentityDbContext: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Users, RefreshTokens, PasswordResetTokens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CatalogDbContext: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Products, Categories, ProductVariants, MediaAssets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WorkflowDbContext: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Prices, Inventories, Approvals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ReportingDbContext:</a:t>
            </a: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ProductReports, DashboardSnapshots, AuditLogs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27708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Testing Strategy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3362087"/>
            <a:ext cx="6185535" cy="2249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NUnit framework for comprehensive testing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Unit tests for service logic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Tests for repositories and controllers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Moq for dependency mocking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EF Core InMemory for test databases</a:t>
            </a:r>
            <a:endParaRPr lang="en-US" sz="1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55DDDA-BC9A-A62A-268F-9437077CE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2950" y="7705652"/>
            <a:ext cx="1943371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1649" y="650081"/>
            <a:ext cx="8204478" cy="68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Project Highlights and Conclusion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811649" y="1781294"/>
            <a:ext cx="4185999" cy="2955369"/>
          </a:xfrm>
          <a:prstGeom prst="roundRect">
            <a:avLst>
              <a:gd name="adj" fmla="val 1177"/>
            </a:avLst>
          </a:prstGeom>
          <a:solidFill>
            <a:srgbClr val="2F2B54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464" y="2013109"/>
            <a:ext cx="695682" cy="69568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4797" y="2204323"/>
            <a:ext cx="313015" cy="3130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3464" y="2933343"/>
            <a:ext cx="3094434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Microservice Architecture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043464" y="3408998"/>
            <a:ext cx="3722370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Modular backend services with clear separation of concerns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222200" y="1781294"/>
            <a:ext cx="4185999" cy="2955369"/>
          </a:xfrm>
          <a:prstGeom prst="roundRect">
            <a:avLst>
              <a:gd name="adj" fmla="val 1177"/>
            </a:avLst>
          </a:prstGeom>
          <a:solidFill>
            <a:srgbClr val="2F2B5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015" y="2013109"/>
            <a:ext cx="695682" cy="69568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45348" y="2204323"/>
            <a:ext cx="313015" cy="3130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4015" y="2933343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JWT Authentication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5454015" y="3408998"/>
            <a:ext cx="3722370" cy="109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Secure token-based authentication with refresh functionality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9632752" y="1781294"/>
            <a:ext cx="4185999" cy="2955369"/>
          </a:xfrm>
          <a:prstGeom prst="roundRect">
            <a:avLst>
              <a:gd name="adj" fmla="val 1177"/>
            </a:avLst>
          </a:prstGeom>
          <a:solidFill>
            <a:srgbClr val="2F2B54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4566" y="2013109"/>
            <a:ext cx="695682" cy="69568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5900" y="2204323"/>
            <a:ext cx="313015" cy="31301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4566" y="2933343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Angular Frontend</a:t>
            </a:r>
            <a:endParaRPr lang="en-US" sz="2100" dirty="0"/>
          </a:p>
        </p:txBody>
      </p:sp>
      <p:sp>
        <p:nvSpPr>
          <p:cNvPr id="17" name="Text 9"/>
          <p:cNvSpPr/>
          <p:nvPr/>
        </p:nvSpPr>
        <p:spPr>
          <a:xfrm>
            <a:off x="9864566" y="3408998"/>
            <a:ext cx="3722370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Role-based dashboards with responsive design</a:t>
            </a:r>
            <a:endParaRPr lang="en-US" sz="1800" dirty="0"/>
          </a:p>
        </p:txBody>
      </p:sp>
      <p:sp>
        <p:nvSpPr>
          <p:cNvPr id="18" name="Shape 10"/>
          <p:cNvSpPr/>
          <p:nvPr/>
        </p:nvSpPr>
        <p:spPr>
          <a:xfrm>
            <a:off x="811649" y="4989314"/>
            <a:ext cx="4185999" cy="2590086"/>
          </a:xfrm>
          <a:prstGeom prst="roundRect">
            <a:avLst>
              <a:gd name="adj" fmla="val 1343"/>
            </a:avLst>
          </a:prstGeom>
          <a:solidFill>
            <a:srgbClr val="2F2B54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3464" y="5221129"/>
            <a:ext cx="695682" cy="69568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34797" y="5412343"/>
            <a:ext cx="313015" cy="31301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43464" y="6141363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Approval Workflow</a:t>
            </a:r>
            <a:endParaRPr lang="en-US" sz="2100" dirty="0"/>
          </a:p>
        </p:txBody>
      </p:sp>
      <p:sp>
        <p:nvSpPr>
          <p:cNvPr id="22" name="Text 12"/>
          <p:cNvSpPr/>
          <p:nvPr/>
        </p:nvSpPr>
        <p:spPr>
          <a:xfrm>
            <a:off x="1043464" y="6617018"/>
            <a:ext cx="3722370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Multi-stage product review and publishing process</a:t>
            </a:r>
            <a:endParaRPr lang="en-US" sz="1800" dirty="0"/>
          </a:p>
        </p:txBody>
      </p:sp>
      <p:sp>
        <p:nvSpPr>
          <p:cNvPr id="23" name="Shape 13"/>
          <p:cNvSpPr/>
          <p:nvPr/>
        </p:nvSpPr>
        <p:spPr>
          <a:xfrm>
            <a:off x="5222200" y="4989314"/>
            <a:ext cx="4185999" cy="2590086"/>
          </a:xfrm>
          <a:prstGeom prst="roundRect">
            <a:avLst>
              <a:gd name="adj" fmla="val 1343"/>
            </a:avLst>
          </a:prstGeom>
          <a:solidFill>
            <a:srgbClr val="2F2B54"/>
          </a:solidFill>
          <a:ln/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54015" y="5221129"/>
            <a:ext cx="695682" cy="695682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45348" y="5412343"/>
            <a:ext cx="313015" cy="313015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454015" y="6141363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Reporting Module</a:t>
            </a:r>
            <a:endParaRPr lang="en-US" sz="2100" dirty="0"/>
          </a:p>
        </p:txBody>
      </p:sp>
      <p:sp>
        <p:nvSpPr>
          <p:cNvPr id="27" name="Text 15"/>
          <p:cNvSpPr/>
          <p:nvPr/>
        </p:nvSpPr>
        <p:spPr>
          <a:xfrm>
            <a:off x="5454015" y="6617018"/>
            <a:ext cx="3722370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Real-time KPIs, analytics, and CSV exports</a:t>
            </a:r>
            <a:endParaRPr lang="en-US" sz="1800" dirty="0"/>
          </a:p>
        </p:txBody>
      </p:sp>
      <p:sp>
        <p:nvSpPr>
          <p:cNvPr id="28" name="Shape 16"/>
          <p:cNvSpPr/>
          <p:nvPr/>
        </p:nvSpPr>
        <p:spPr>
          <a:xfrm>
            <a:off x="9632752" y="4989314"/>
            <a:ext cx="4185999" cy="2590086"/>
          </a:xfrm>
          <a:prstGeom prst="roundRect">
            <a:avLst>
              <a:gd name="adj" fmla="val 1343"/>
            </a:avLst>
          </a:prstGeom>
          <a:solidFill>
            <a:srgbClr val="2F2B54"/>
          </a:solidFill>
          <a:ln/>
        </p:spPr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64566" y="5221129"/>
            <a:ext cx="695682" cy="695682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055900" y="5412343"/>
            <a:ext cx="313015" cy="313015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9864566" y="6141363"/>
            <a:ext cx="2728198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Audit Trail</a:t>
            </a:r>
            <a:endParaRPr lang="en-US" sz="2100" dirty="0"/>
          </a:p>
        </p:txBody>
      </p:sp>
      <p:sp>
        <p:nvSpPr>
          <p:cNvPr id="32" name="Text 18"/>
          <p:cNvSpPr/>
          <p:nvPr/>
        </p:nvSpPr>
        <p:spPr>
          <a:xfrm>
            <a:off x="9864566" y="6617018"/>
            <a:ext cx="3722370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Complete action logging for compliance</a:t>
            </a:r>
            <a:endParaRPr lang="en-US" sz="18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6D47757-CEA3-78B8-85AC-AE080242FE4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92764" y="7634288"/>
            <a:ext cx="1943371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E93B9-C03D-90A6-7A43-833010E81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5A006B-80EC-C86D-1D89-A7E4CA0A01CB}"/>
              </a:ext>
            </a:extLst>
          </p:cNvPr>
          <p:cNvSpPr/>
          <p:nvPr/>
        </p:nvSpPr>
        <p:spPr>
          <a:xfrm>
            <a:off x="4678467" y="3977297"/>
            <a:ext cx="5273466" cy="580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Thank You</a:t>
            </a:r>
            <a:endParaRPr lang="en-US" sz="7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F431218-79F5-BC77-6AA7-E9C998C9A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2764" y="7634288"/>
            <a:ext cx="1943371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46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592</Words>
  <Application>Microsoft Office PowerPoint</Application>
  <PresentationFormat>Custom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Kanit</vt:lpstr>
      <vt:lpstr>Martel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Abhinandan Sah</cp:lastModifiedBy>
  <cp:revision>13</cp:revision>
  <dcterms:created xsi:type="dcterms:W3CDTF">2026-05-04T13:55:01Z</dcterms:created>
  <dcterms:modified xsi:type="dcterms:W3CDTF">2026-05-16T06:28:11Z</dcterms:modified>
</cp:coreProperties>
</file>